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NL2SQL MCP Server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Natural Language to SQL via Model Context Protocol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Problem: LLMs generating SQL directly is risky</a:t>
            </a:r>
          </a:p>
          <a:p>
            <a:pPr lvl="1"/>
            <a:r>
              <a:rPr sz="1800"/>
              <a:t>SQL injection vulnerabilities</a:t>
            </a:r>
          </a:p>
          <a:p>
            <a:pPr lvl="1"/>
            <a:r>
              <a:rPr sz="1800"/>
              <a:t>Hallucinated table/column names</a:t>
            </a:r>
          </a:p>
          <a:p>
            <a:pPr lvl="1"/>
            <a:r>
              <a:rPr sz="1800"/>
              <a:t>Dangerous operations (DROP, DELETE)</a:t>
            </a:r>
          </a:p>
          <a:p>
            <a:pPr/>
          </a:p>
          <a:p>
            <a:pPr/>
            <a:r>
              <a:rPr sz="1800"/>
              <a:t>Solution: Multi-layer validation pipeline</a:t>
            </a:r>
          </a:p>
          <a:p>
            <a:pPr lvl="1"/>
            <a:r>
              <a:rPr sz="1800"/>
              <a:t>Separate SQL generation from execution</a:t>
            </a:r>
          </a:p>
          <a:p>
            <a:pPr lvl="1"/>
            <a:r>
              <a:rPr sz="1800"/>
              <a:t>Validate before any database access</a:t>
            </a:r>
          </a:p>
          <a:p>
            <a:pPr lvl="1"/>
            <a:r>
              <a:rPr sz="1800"/>
              <a:t>Bounded repair loop for error recovery</a:t>
            </a:r>
          </a:p>
          <a:p>
            <a:pPr lvl="1"/>
            <a:r>
              <a:rPr sz="1800"/>
              <a:t>Defense-in-depth security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 i="0">
                <a:solidFill>
                  <a:srgbClr val="000000"/>
                </a:solidFill>
              </a:defRPr>
            </a:pPr>
            <a:r>
              <a:t>NL2SQL Process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" y="502920"/>
            <a:ext cx="1417320" cy="475488"/>
          </a:xfrm>
          <a:prstGeom prst="roundRect">
            <a:avLst/>
          </a:prstGeom>
          <a:solidFill>
            <a:srgbClr val="4285F4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1. User</a:t>
            </a:r>
          </a:p>
          <a:p>
            <a:pPr algn="ctr">
              <a:defRPr sz="700">
                <a:solidFill>
                  <a:srgbClr val="E6E6E6"/>
                </a:solidFill>
              </a:defRPr>
            </a:pPr>
            <a:r>
              <a:t>NL Question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719072" y="672084"/>
            <a:ext cx="201168" cy="1371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93392" y="502920"/>
            <a:ext cx="1417320" cy="475488"/>
          </a:xfrm>
          <a:prstGeom prst="roundRect">
            <a:avLst/>
          </a:prstGeom>
          <a:solidFill>
            <a:srgbClr val="34A853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2. LLM</a:t>
            </a:r>
          </a:p>
          <a:p>
            <a:pPr algn="ctr">
              <a:defRPr sz="700">
                <a:solidFill>
                  <a:srgbClr val="E6E6E6"/>
                </a:solidFill>
              </a:defRPr>
            </a:pPr>
            <a:r>
              <a:t>nl_query tool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83864" y="672084"/>
            <a:ext cx="201168" cy="1371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58184" y="502920"/>
            <a:ext cx="1417320" cy="475488"/>
          </a:xfrm>
          <a:prstGeom prst="roundRect">
            <a:avLst/>
          </a:prstGeom>
          <a:solidFill>
            <a:srgbClr val="C8A00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3. TS MCP</a:t>
            </a:r>
          </a:p>
          <a:p>
            <a:pPr algn="ctr">
              <a:defRPr sz="700">
                <a:solidFill>
                  <a:srgbClr val="E6E6E6"/>
                </a:solidFill>
              </a:defRPr>
            </a:pPr>
            <a:r>
              <a:t>Orchestrate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48656" y="672084"/>
            <a:ext cx="201168" cy="1371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22976" y="502920"/>
            <a:ext cx="1417320" cy="475488"/>
          </a:xfrm>
          <a:prstGeom prst="roundRect">
            <a:avLst/>
          </a:prstGeom>
          <a:solidFill>
            <a:srgbClr val="DB4437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4. Python</a:t>
            </a:r>
          </a:p>
          <a:p>
            <a:pPr algn="ctr">
              <a:defRPr sz="700">
                <a:solidFill>
                  <a:srgbClr val="E6E6E6"/>
                </a:solidFill>
              </a:defRPr>
            </a:pPr>
            <a:r>
              <a:t>Build prompt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13448" y="672084"/>
            <a:ext cx="201168" cy="1371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87768" y="502920"/>
            <a:ext cx="1417320" cy="475488"/>
          </a:xfrm>
          <a:prstGeom prst="roundRect">
            <a:avLst/>
          </a:prstGeom>
          <a:solidFill>
            <a:srgbClr val="8E56B2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5. Ollama</a:t>
            </a:r>
          </a:p>
          <a:p>
            <a:pPr algn="ctr">
              <a:defRPr sz="700">
                <a:solidFill>
                  <a:srgbClr val="E6E6E6"/>
                </a:solidFill>
              </a:defRPr>
            </a:pPr>
            <a:r>
              <a:t>Generate SQL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7927848" y="1051560"/>
            <a:ext cx="137160" cy="201168"/>
          </a:xfrm>
          <a:prstGeom prst="down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87768" y="1371600"/>
            <a:ext cx="1417320" cy="475488"/>
          </a:xfrm>
          <a:prstGeom prst="roundRect">
            <a:avLst/>
          </a:prstGeom>
          <a:solidFill>
            <a:srgbClr val="8E56B2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6. Semantic</a:t>
            </a:r>
          </a:p>
          <a:p>
            <a:pPr algn="ctr">
              <a:defRPr sz="700">
                <a:solidFill>
                  <a:srgbClr val="E6E6E6"/>
                </a:solidFill>
              </a:defRPr>
            </a:pPr>
            <a:r>
              <a:t>Entity check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7013448" y="1540764"/>
            <a:ext cx="201168" cy="137160"/>
          </a:xfrm>
          <a:prstGeom prst="lef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22976" y="1371600"/>
            <a:ext cx="1417320" cy="475488"/>
          </a:xfrm>
          <a:prstGeom prst="roundRect">
            <a:avLst/>
          </a:prstGeom>
          <a:solidFill>
            <a:srgbClr val="C8A000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7. Structural</a:t>
            </a:r>
          </a:p>
          <a:p>
            <a:pPr algn="ctr">
              <a:defRPr sz="700">
                <a:solidFill>
                  <a:srgbClr val="E6E6E6"/>
                </a:solidFill>
              </a:defRPr>
            </a:pPr>
            <a:r>
              <a:t>SELECT-only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5248656" y="1540764"/>
            <a:ext cx="201168" cy="137160"/>
          </a:xfrm>
          <a:prstGeom prst="lef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4672584" y="1357884"/>
            <a:ext cx="502920" cy="502920"/>
          </a:xfrm>
          <a:prstGeom prst="diamond">
            <a:avLst/>
          </a:prstGeom>
          <a:solidFill>
            <a:srgbClr val="757575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OK?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1879092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34A853"/>
                </a:solidFill>
              </a:defRPr>
            </a:pPr>
            <a:r>
              <a:t>Yes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855464" y="1933956"/>
            <a:ext cx="137160" cy="201168"/>
          </a:xfrm>
          <a:prstGeom prst="down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1339596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DB4437"/>
                </a:solidFill>
              </a:defRPr>
            </a:pPr>
            <a:r>
              <a:t>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15384" y="2286000"/>
            <a:ext cx="1417320" cy="475488"/>
          </a:xfrm>
          <a:prstGeom prst="roundRect">
            <a:avLst/>
          </a:prstGeom>
          <a:solidFill>
            <a:srgbClr val="00897B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8. EXPLAIN</a:t>
            </a:r>
          </a:p>
          <a:p>
            <a:pPr algn="ctr">
              <a:defRPr sz="700">
                <a:solidFill>
                  <a:srgbClr val="E6E6E6"/>
                </a:solidFill>
              </a:defRPr>
            </a:pPr>
            <a:r>
              <a:t>Safe dry-run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3941064" y="2455164"/>
            <a:ext cx="201168" cy="137160"/>
          </a:xfrm>
          <a:prstGeom prst="lef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3364992" y="2272284"/>
            <a:ext cx="502920" cy="502920"/>
          </a:xfrm>
          <a:prstGeom prst="diamond">
            <a:avLst/>
          </a:prstGeom>
          <a:solidFill>
            <a:srgbClr val="757575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OK?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36392" y="2793492"/>
            <a:ext cx="2743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34A853"/>
                </a:solidFill>
              </a:defRPr>
            </a:pPr>
            <a:r>
              <a:t>Yes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3547872" y="2848356"/>
            <a:ext cx="137160" cy="201168"/>
          </a:xfrm>
          <a:prstGeom prst="downArrow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2253996"/>
            <a:ext cx="1828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1" i="0">
                <a:solidFill>
                  <a:srgbClr val="DB4437"/>
                </a:solidFill>
              </a:defRPr>
            </a:pPr>
            <a:r>
              <a:t>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7792" y="3200400"/>
            <a:ext cx="1417320" cy="475488"/>
          </a:xfrm>
          <a:prstGeom prst="roundRect">
            <a:avLst/>
          </a:prstGeom>
          <a:solidFill>
            <a:srgbClr val="34A853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9. Execute</a:t>
            </a:r>
          </a:p>
          <a:p>
            <a:pPr algn="ctr">
              <a:defRPr sz="700">
                <a:solidFill>
                  <a:srgbClr val="E6E6E6"/>
                </a:solidFill>
              </a:defRPr>
            </a:pPr>
            <a:r>
              <a:t>PostgreSQL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398264" y="3369564"/>
            <a:ext cx="201168" cy="1371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72584" y="3200400"/>
            <a:ext cx="1417320" cy="475488"/>
          </a:xfrm>
          <a:prstGeom prst="roundRect">
            <a:avLst/>
          </a:prstGeom>
          <a:solidFill>
            <a:srgbClr val="4285F4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10. Return</a:t>
            </a:r>
          </a:p>
          <a:p>
            <a:pPr algn="ctr">
              <a:defRPr sz="700">
                <a:solidFill>
                  <a:srgbClr val="E6E6E6"/>
                </a:solidFill>
              </a:defRPr>
            </a:pPr>
            <a:r>
              <a:t>Results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03920" y="502920"/>
            <a:ext cx="1920240" cy="1737360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DB4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576072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DB4437"/>
                </a:solidFill>
              </a:defRPr>
            </a:pPr>
            <a:r>
              <a:t>REPAIR LOOP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822960"/>
            <a:ext cx="1645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 i="0">
                <a:solidFill>
                  <a:srgbClr val="643232"/>
                </a:solidFill>
              </a:defRPr>
            </a:pPr>
            <a:r>
              <a:t>On error:</a:t>
            </a:r>
            <a:br/>
            <a:r>
              <a:t>• Collect context</a:t>
            </a:r>
            <a:br/>
            <a:r>
              <a:t>• Call /repair_sql</a:t>
            </a:r>
            <a:br/>
            <a:r>
              <a:t>• Regenerate SQL</a:t>
            </a:r>
            <a:br/>
            <a:r>
              <a:t>• Max 3 attempts</a:t>
            </a:r>
            <a:br/>
            <a:br/>
            <a:r>
              <a:t>↰ Back to step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12664" y="133502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DB4437"/>
                </a:solidFill>
              </a:defRPr>
            </a:pPr>
            <a:r>
              <a:t>→ Repair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05072" y="224942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DB4437"/>
                </a:solidFill>
              </a:defRPr>
            </a:pPr>
            <a:r>
              <a:t>→ Repair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" y="3703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 i="0">
                <a:solidFill>
                  <a:srgbClr val="000000"/>
                </a:solidFill>
              </a:defRPr>
            </a:pPr>
            <a:r>
              <a:t>Security Layers: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" y="3931920"/>
            <a:ext cx="1965960" cy="457200"/>
          </a:xfrm>
          <a:prstGeom prst="roundRect">
            <a:avLst/>
          </a:prstGeom>
          <a:solidFill>
            <a:srgbClr val="4285F4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1. Semantic</a:t>
            </a:r>
          </a:p>
          <a:p>
            <a:pPr algn="ctr">
              <a:defRPr sz="700">
                <a:solidFill>
                  <a:srgbClr val="E6E6E6"/>
                </a:solidFill>
              </a:defRPr>
            </a:pPr>
            <a:r>
              <a:t>Entity match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67712" y="3931920"/>
            <a:ext cx="1965960" cy="457200"/>
          </a:xfrm>
          <a:prstGeom prst="roundRect">
            <a:avLst/>
          </a:prstGeom>
          <a:solidFill>
            <a:srgbClr val="34A853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2. Structural</a:t>
            </a:r>
          </a:p>
          <a:p>
            <a:pPr algn="ctr">
              <a:defRPr sz="700">
                <a:solidFill>
                  <a:srgbClr val="E6E6E6"/>
                </a:solidFill>
              </a:defRPr>
            </a:pPr>
            <a:r>
              <a:t>SELECT-only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06824" y="3931920"/>
            <a:ext cx="1965960" cy="457200"/>
          </a:xfrm>
          <a:prstGeom prst="roundRect">
            <a:avLst/>
          </a:prstGeom>
          <a:solidFill>
            <a:srgbClr val="00897B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3. EXPLAIN</a:t>
            </a:r>
          </a:p>
          <a:p>
            <a:pPr algn="ctr">
              <a:defRPr sz="700">
                <a:solidFill>
                  <a:srgbClr val="E6E6E6"/>
                </a:solidFill>
              </a:defRPr>
            </a:pPr>
            <a:r>
              <a:t>Dry-run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45936" y="3931920"/>
            <a:ext cx="1965960" cy="457200"/>
          </a:xfrm>
          <a:prstGeom prst="roundRect">
            <a:avLst/>
          </a:prstGeom>
          <a:solidFill>
            <a:srgbClr val="DB4437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4. DB Role</a:t>
            </a:r>
          </a:p>
          <a:p>
            <a:pPr algn="ctr">
              <a:defRPr sz="700">
                <a:solidFill>
                  <a:srgbClr val="E6E6E6"/>
                </a:solidFill>
              </a:defRPr>
            </a:pPr>
            <a:r>
              <a:t>Permissions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85048" y="3931920"/>
            <a:ext cx="1965960" cy="457200"/>
          </a:xfrm>
          <a:prstGeom prst="roundRect">
            <a:avLst/>
          </a:prstGeom>
          <a:solidFill>
            <a:srgbClr val="8E56B2"/>
          </a:solidFill>
          <a:ln w="9525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5. Transaction</a:t>
            </a:r>
          </a:p>
          <a:p>
            <a:pPr algn="ctr">
              <a:defRPr sz="700">
                <a:solidFill>
                  <a:srgbClr val="E6E6E6"/>
                </a:solidFill>
              </a:defRPr>
            </a:pPr>
            <a:r>
              <a:t>READ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Languages:</a:t>
            </a:r>
          </a:p>
          <a:p>
            <a:pPr lvl="1"/>
            <a:r>
              <a:rPr sz="1800"/>
              <a:t>TypeScript — MCP server, validation, orchestration</a:t>
            </a:r>
          </a:p>
          <a:p>
            <a:pPr lvl="1"/>
            <a:r>
              <a:rPr sz="1800"/>
              <a:t>Python — SQL generation, semantic validation</a:t>
            </a:r>
          </a:p>
          <a:p>
            <a:pPr/>
          </a:p>
          <a:p>
            <a:pPr/>
            <a:r>
              <a:rPr sz="1800"/>
              <a:t>Frameworks &amp; Libraries:</a:t>
            </a:r>
          </a:p>
          <a:p>
            <a:pPr lvl="1"/>
            <a:r>
              <a:rPr sz="1800"/>
              <a:t>MCP SDK (@modelcontextprotocol/sdk) — Tool registration</a:t>
            </a:r>
          </a:p>
          <a:p>
            <a:pPr lvl="1"/>
            <a:r>
              <a:rPr sz="1800"/>
              <a:t>FastAPI — Python REST API server</a:t>
            </a:r>
          </a:p>
          <a:p>
            <a:pPr lvl="1"/>
            <a:r>
              <a:rPr sz="1800"/>
              <a:t>pg (node-postgres) — PostgreSQL client</a:t>
            </a:r>
          </a:p>
          <a:p>
            <a:pPr lvl="1"/>
            <a:r>
              <a:rPr sz="1800"/>
              <a:t>Zod — Schema validation</a:t>
            </a:r>
          </a:p>
          <a:p>
            <a:pPr/>
          </a:p>
          <a:p>
            <a:pPr/>
            <a:r>
              <a:rPr sz="1800"/>
              <a:t>AI/ML:</a:t>
            </a:r>
          </a:p>
          <a:p>
            <a:pPr lvl="1"/>
            <a:r>
              <a:rPr sz="1800"/>
              <a:t>Ollama — Local LLM inference server</a:t>
            </a:r>
          </a:p>
          <a:p>
            <a:pPr lvl="1"/>
            <a:r>
              <a:rPr sz="1800"/>
              <a:t>HridaAI/hrida-t2sql — Text-to-SQL model (temp=0.0)</a:t>
            </a:r>
          </a:p>
          <a:p>
            <a:pPr/>
          </a:p>
          <a:p>
            <a:pPr/>
            <a:r>
              <a:rPr sz="1800"/>
              <a:t>Database: PostgreSQL 15+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LibreChat (Port 3080) — Chat interface</a:t>
            </a:r>
          </a:p>
          <a:p>
            <a:pPr lvl="1"/>
            <a:r>
              <a:rPr sz="1800"/>
              <a:t>User types natural language question</a:t>
            </a:r>
          </a:p>
          <a:p>
            <a:pPr/>
          </a:p>
          <a:p>
            <a:pPr/>
            <a:r>
              <a:rPr sz="1800"/>
              <a:t>TypeScript MCP Server (stdio) — Orchestration</a:t>
            </a:r>
          </a:p>
          <a:p>
            <a:pPr lvl="1"/>
            <a:r>
              <a:rPr sz="1800"/>
              <a:t>Registers nl_query tool, manages validation loop</a:t>
            </a:r>
          </a:p>
          <a:p>
            <a:pPr/>
          </a:p>
          <a:p>
            <a:pPr/>
            <a:r>
              <a:rPr sz="1800"/>
              <a:t>Python Sidecar (Port 8001) — SQL Generation</a:t>
            </a:r>
          </a:p>
          <a:p>
            <a:pPr lvl="1"/>
            <a:r>
              <a:rPr sz="1800"/>
              <a:t>Filters schema, composes prompt, calls Ollama</a:t>
            </a:r>
          </a:p>
          <a:p>
            <a:pPr/>
          </a:p>
          <a:p>
            <a:pPr/>
            <a:r>
              <a:rPr sz="1800"/>
              <a:t>Ollama (Port 11434) — AI Model</a:t>
            </a:r>
          </a:p>
          <a:p>
            <a:pPr lvl="1"/>
            <a:r>
              <a:rPr sz="1800"/>
              <a:t>HridaAI/hrida-t2sql, temperature=0.0 (deterministic)</a:t>
            </a:r>
          </a:p>
          <a:p>
            <a:pPr/>
          </a:p>
          <a:p>
            <a:pPr/>
            <a:r>
              <a:rPr sz="1800"/>
              <a:t>PostgreSQL (Port 5432) — Database</a:t>
            </a:r>
          </a:p>
          <a:p>
            <a:pPr lvl="1"/>
            <a:r>
              <a:rPr sz="1800"/>
              <a:t>MCPtest database, SELECT-only role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Validation —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State Machine Tokenizer parses SQL safely:</a:t>
            </a:r>
          </a:p>
          <a:p>
            <a:pPr lvl="1"/>
            <a:r>
              <a:rPr sz="1800"/>
              <a:t>Distinguishes code from string literals</a:t>
            </a:r>
          </a:p>
          <a:p>
            <a:pPr lvl="1"/>
            <a:r>
              <a:rPr sz="1800"/>
              <a:t>Handles 'quotes', "identifiers", $$dollar quotes$$</a:t>
            </a:r>
          </a:p>
          <a:p>
            <a:pPr lvl="1"/>
            <a:r>
              <a:rPr sz="1800"/>
              <a:t>Ignores -- comments and /* block comments */</a:t>
            </a:r>
          </a:p>
          <a:p>
            <a:pPr/>
          </a:p>
          <a:p>
            <a:pPr/>
            <a:r>
              <a:rPr sz="1800"/>
              <a:t>Validation Rules:</a:t>
            </a:r>
          </a:p>
          <a:p>
            <a:pPr lvl="1"/>
            <a:r>
              <a:rPr sz="1800"/>
              <a:t>FAIL-FAST: Non-SELECT query → reject immediately</a:t>
            </a:r>
          </a:p>
          <a:p>
            <a:pPr lvl="1"/>
            <a:r>
              <a:rPr sz="1800"/>
              <a:t>FAIL-FAST: Multiple statements → reject (SQL injection)</a:t>
            </a:r>
          </a:p>
          <a:p>
            <a:pPr lvl="1"/>
            <a:r>
              <a:rPr sz="1800"/>
              <a:t>FAIL-FAST: DROP/DELETE/INSERT → reject</a:t>
            </a:r>
          </a:p>
          <a:p>
            <a:pPr lvl="1"/>
            <a:r>
              <a:rPr sz="1800"/>
              <a:t>REPAIRABLE: Unknown table → retry with feedback</a:t>
            </a:r>
          </a:p>
          <a:p>
            <a:pPr lvl="1"/>
            <a:r>
              <a:rPr sz="1800"/>
              <a:t>AUTO-FIX: Missing LIMIT → add LIMIT 1000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Repair Loop — Error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Bounded to 3 attempts (prevents infinite loops)</a:t>
            </a:r>
          </a:p>
          <a:p>
            <a:pPr/>
          </a:p>
          <a:p>
            <a:pPr/>
            <a:r>
              <a:rPr sz="1800"/>
              <a:t>Attempt 1: Generate fresh SQL from question</a:t>
            </a:r>
          </a:p>
          <a:p>
            <a:pPr/>
          </a:p>
          <a:p>
            <a:pPr/>
            <a:r>
              <a:rPr sz="1800"/>
              <a:t>On validation error (e.g., wrong table name):</a:t>
            </a:r>
          </a:p>
          <a:p>
            <a:pPr lvl="1"/>
            <a:r>
              <a:rPr sz="1800"/>
              <a:t>Send error context back to Python sidecar</a:t>
            </a:r>
          </a:p>
          <a:p>
            <a:pPr lvl="1"/>
            <a:r>
              <a:rPr sz="1800"/>
              <a:t>Python builds repair prompt with guidance</a:t>
            </a:r>
          </a:p>
          <a:p>
            <a:pPr lvl="1"/>
            <a:r>
              <a:rPr sz="1800"/>
              <a:t>Ollama regenerates SQL with corrections</a:t>
            </a:r>
          </a:p>
          <a:p>
            <a:pPr/>
          </a:p>
          <a:p>
            <a:pPr/>
            <a:r>
              <a:rPr sz="1800"/>
              <a:t>On PostgreSQL error (e.g., undefined column):</a:t>
            </a:r>
          </a:p>
          <a:p>
            <a:pPr lvl="1"/>
            <a:r>
              <a:rPr sz="1800"/>
              <a:t>Parse SQLSTATE error code</a:t>
            </a:r>
          </a:p>
          <a:p>
            <a:pPr lvl="1"/>
            <a:r>
              <a:rPr sz="1800"/>
              <a:t>Fail-fast if permission/connection error</a:t>
            </a:r>
          </a:p>
          <a:p>
            <a:pPr lvl="1"/>
            <a:r>
              <a:rPr sz="1800"/>
              <a:t>Retry if syntax/column/type error</a:t>
            </a:r>
          </a:p>
          <a:p>
            <a:pPr/>
          </a:p>
          <a:p>
            <a:pPr/>
            <a:r>
              <a:rPr sz="1800"/>
              <a:t>Confidence decreases 10% per retry attempt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Defense-in-Depth: 5 Security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/>
              <a:t>Layer 1: Semantic Validation (Python)</a:t>
            </a:r>
          </a:p>
          <a:p>
            <a:pPr lvl="1"/>
            <a:r>
              <a:rPr sz="1700"/>
              <a:t>Verifies question entities appear in SQL; detects hallucinations</a:t>
            </a:r>
          </a:p>
          <a:p>
            <a:pPr/>
          </a:p>
          <a:p>
            <a:pPr/>
            <a:r>
              <a:rPr sz="1700"/>
              <a:t>Layer 2: Structural Validation (TypeScript)</a:t>
            </a:r>
          </a:p>
          <a:p>
            <a:pPr lvl="1"/>
            <a:r>
              <a:rPr sz="1700"/>
              <a:t>Blocks dangerous keywords (DROP, DELETE) and functions (pg_sleep)</a:t>
            </a:r>
          </a:p>
          <a:p>
            <a:pPr/>
          </a:p>
          <a:p>
            <a:pPr/>
            <a:r>
              <a:rPr sz="1700"/>
              <a:t>Layer 3: EXPLAIN-First Check</a:t>
            </a:r>
          </a:p>
          <a:p>
            <a:pPr lvl="1"/>
            <a:r>
              <a:rPr sz="1700"/>
              <a:t>Safe dry-run catches errors without executing query</a:t>
            </a:r>
          </a:p>
          <a:p>
            <a:pPr/>
          </a:p>
          <a:p>
            <a:pPr/>
            <a:r>
              <a:rPr sz="1700"/>
              <a:t>Layer 4: Database Role</a:t>
            </a:r>
          </a:p>
          <a:p>
            <a:pPr lvl="1"/>
            <a:r>
              <a:rPr sz="1700"/>
              <a:t>PostgreSQL user has SELECT-only permission</a:t>
            </a:r>
          </a:p>
          <a:p>
            <a:pPr/>
          </a:p>
          <a:p>
            <a:pPr/>
            <a:r>
              <a:rPr sz="1700"/>
              <a:t>Layer 5: Transaction Safety</a:t>
            </a:r>
          </a:p>
          <a:p>
            <a:pPr lvl="1"/>
            <a:r>
              <a:rPr sz="1700"/>
              <a:t>READ ONLY transactions with statement timeout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Test Suite: 27 questions across 6 difficulty levels</a:t>
            </a:r>
          </a:p>
          <a:p>
            <a:pPr/>
          </a:p>
          <a:p>
            <a:pPr/>
            <a:r>
              <a:rPr sz="1800"/>
              <a:t>Without validation stack: 77.8% success (21/27)</a:t>
            </a:r>
          </a:p>
          <a:p>
            <a:pPr/>
            <a:r>
              <a:rPr sz="1800"/>
              <a:t>With validation stack: 92.6% success (25/27)</a:t>
            </a:r>
          </a:p>
          <a:p>
            <a:pPr lvl="1"/>
            <a:r>
              <a:rPr sz="1800"/>
              <a:t>+14.8% improvement</a:t>
            </a:r>
          </a:p>
          <a:p>
            <a:pPr/>
          </a:p>
          <a:p>
            <a:pPr/>
            <a:r>
              <a:rPr sz="1800"/>
              <a:t>By difficulty level:</a:t>
            </a:r>
          </a:p>
          <a:p>
            <a:pPr lvl="1"/>
            <a:r>
              <a:rPr sz="1800"/>
              <a:t>Simple queries: 80% → 100%</a:t>
            </a:r>
          </a:p>
          <a:p>
            <a:pPr lvl="1"/>
            <a:r>
              <a:rPr sz="1800"/>
              <a:t>Edge cases: 25% → 75%</a:t>
            </a:r>
          </a:p>
          <a:p>
            <a:pPr lvl="1"/>
            <a:r>
              <a:rPr sz="1800"/>
              <a:t>NL variations: 80% → 100%</a:t>
            </a:r>
          </a:p>
          <a:p>
            <a:pPr/>
          </a:p>
          <a:p>
            <a:pPr/>
            <a:r>
              <a:rPr sz="1800"/>
              <a:t>Latency: ~750ms average (target &lt;3s met)</a:t>
            </a:r>
          </a:p>
          <a:p>
            <a:pPr/>
            <a:r>
              <a:rPr sz="1800"/>
              <a:t>Security violations: 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Architecture eliminates direct LLM-to-database access</a:t>
            </a:r>
          </a:p>
          <a:p>
            <a:pPr/>
          </a:p>
          <a:p>
            <a:pPr/>
            <a:r>
              <a:rPr sz="1800"/>
              <a:t>Key benefits:</a:t>
            </a:r>
          </a:p>
          <a:p>
            <a:pPr lvl="1"/>
            <a:r>
              <a:rPr sz="1800"/>
              <a:t>Zero SQL injection risk (multi-layer validation)</a:t>
            </a:r>
          </a:p>
          <a:p>
            <a:pPr lvl="1"/>
            <a:r>
              <a:rPr sz="1800"/>
              <a:t>Self-healing (bounded repair loop)</a:t>
            </a:r>
          </a:p>
          <a:p>
            <a:pPr lvl="1"/>
            <a:r>
              <a:rPr sz="1800"/>
              <a:t>Auditable (every query logged with trace)</a:t>
            </a:r>
          </a:p>
          <a:p>
            <a:pPr/>
          </a:p>
          <a:p>
            <a:pPr/>
            <a:r>
              <a:rPr sz="1800"/>
              <a:t>92.6% success rate on test suite</a:t>
            </a:r>
          </a:p>
          <a:p>
            <a:pPr/>
            <a:r>
              <a:rPr sz="1800"/>
              <a:t>Sub-second latency</a:t>
            </a:r>
          </a:p>
          <a:p>
            <a:pPr/>
            <a:r>
              <a:rPr sz="1800"/>
              <a:t>Production-ready security model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